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3200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HACKATHON /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667512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1F5F9"/>
                </a:solidFill>
                <a:latin typeface="Aptos"/>
              </a:rPr>
              <a:t>Rush-Proof
Event Ticketing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603504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A9B8"/>
                </a:solidFill>
                <a:latin typeface="Aptos"/>
              </a:rPr>
              <a:t>High-Performance Microservice Replacing Legacy PostgreSQL Monoliths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22191"/>
            <a:ext cx="160020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35907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A0E14"/>
                </a:solidFill>
                <a:latin typeface="Aptos"/>
              </a:rPr>
              <a:t>TEAM ID  DBG-472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2" y="3822191"/>
            <a:ext cx="1481328" cy="310896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3835907"/>
            <a:ext cx="148132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A0E14"/>
                </a:solidFill>
                <a:latin typeface="Aptos"/>
              </a:rPr>
              <a:t>NULL POINTERS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3822191"/>
            <a:ext cx="1874519" cy="3108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3835907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A0E14"/>
                </a:solidFill>
                <a:latin typeface="Aptos"/>
              </a:rPr>
              <a:t>FINTECH / BOX OFFICE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960120"/>
            <a:ext cx="4069080" cy="4754880"/>
          </a:xfrm>
          <a:prstGeom prst="roundRect">
            <a:avLst/>
          </a:prstGeom>
          <a:solidFill>
            <a:srgbClr val="171F2A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1261872"/>
            <a:ext cx="1920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9B8"/>
                </a:solidFill>
                <a:latin typeface="Aptos"/>
              </a:rPr>
              <a:t>TRAFFIC SURGE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1737360"/>
            <a:ext cx="210312" cy="21031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28216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1F5F9"/>
                </a:solidFill>
                <a:latin typeface="Aptos"/>
              </a:rPr>
              <a:t>5,000+ users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240280"/>
            <a:ext cx="210312" cy="2103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231136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1F5F9"/>
                </a:solidFill>
                <a:latin typeface="Aptos"/>
              </a:rPr>
              <a:t>burst traffic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2743200"/>
            <a:ext cx="210312" cy="2103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34056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1F5F9"/>
                </a:solidFill>
                <a:latin typeface="Aptos"/>
              </a:rPr>
              <a:t>ticket holds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3246120"/>
            <a:ext cx="210312" cy="21031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236976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1F5F9"/>
                </a:solidFill>
                <a:latin typeface="Aptos"/>
              </a:rPr>
              <a:t>gate scans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92640" y="2743200"/>
            <a:ext cx="502920" cy="0"/>
          </a:xfrm>
          <a:prstGeom prst="line">
            <a:avLst/>
          </a:prstGeom>
          <a:ln w="381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920240"/>
            <a:ext cx="960120" cy="164592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2240280"/>
            <a:ext cx="822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2606040"/>
            <a:ext cx="8229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ATOMIC
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4160520"/>
            <a:ext cx="3291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9B8"/>
                </a:solidFill>
                <a:latin typeface="Aptos"/>
              </a:rPr>
              <a:t>FastAPI  →  Redis  → 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800600"/>
            <a:ext cx="32004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Built to survive the rush.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CA9B8"/>
                </a:solidFill>
                <a:latin typeface="Aptos"/>
              </a:rPr>
              <a:t>NULL POINTERS  /  DBG-472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9CA9B8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Why Traditional Event Ticketing Systems Crash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9B8"/>
                </a:solidFill>
                <a:latin typeface="Aptos"/>
              </a:rPr>
              <a:t>Legacy PostgreSQL monoliths become the bottleneck exactly when demand peaks.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788920" cy="3977639"/>
          </a:xfrm>
          <a:prstGeom prst="roundRect">
            <a:avLst/>
          </a:prstGeom>
          <a:solidFill>
            <a:srgbClr val="171F2A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031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87171"/>
                </a:solidFill>
                <a:latin typeface="Aptos"/>
              </a:rPr>
              <a:t>5,000+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71800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9B8"/>
                </a:solidFill>
                <a:latin typeface="Aptos"/>
              </a:rPr>
              <a:t>SIMULTANEOUS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21031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The surge is the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0574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A9B8"/>
                </a:solidFill>
                <a:latin typeface="Aptos"/>
              </a:rPr>
              <a:t>The system must absorb concurrent seat claims, expirations, and gate checks without making the database the bottleneck.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965960"/>
            <a:ext cx="3657600" cy="123444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67911" y="2139696"/>
            <a:ext cx="384048" cy="38404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2144268"/>
            <a:ext cx="38404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0E14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12264"/>
            <a:ext cx="27889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Lock contention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68880"/>
            <a:ext cx="2788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A9B8"/>
                </a:solidFill>
                <a:latin typeface="Aptos"/>
              </a:rPr>
              <a:t>Concurrent ticket claims collide on database rows, creating waits, retries, and overselling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965960"/>
            <a:ext cx="3977639" cy="123444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08392" y="2139696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2144268"/>
            <a:ext cx="38404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0E14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12264"/>
            <a:ext cx="310895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Slow expiration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10895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A9B8"/>
                </a:solidFill>
                <a:latin typeface="Aptos"/>
              </a:rPr>
              <a:t>Cron-driven cleanup cannot react in real time when unpaid reservation holds expire.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401568"/>
            <a:ext cx="3657600" cy="123444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67911" y="3575304"/>
            <a:ext cx="384048" cy="38404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7911" y="3579876"/>
            <a:ext cx="38404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0E14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47872"/>
            <a:ext cx="27889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Duplicate entry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04488"/>
            <a:ext cx="2788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A9B8"/>
                </a:solidFill>
                <a:latin typeface="Aptos"/>
              </a:rPr>
              <a:t>Weak gate validation can allow the same QR credential to be accepted more than once.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401568"/>
            <a:ext cx="3977639" cy="123444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3575304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579876"/>
            <a:ext cx="384048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A0E14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547872"/>
            <a:ext cx="310895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Monolith 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904488"/>
            <a:ext cx="310895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CA9B8"/>
                </a:solidFill>
                <a:latin typeface="Aptos"/>
              </a:rPr>
              <a:t>Every hot-path operation competes for the same persistence layer during traffic spikes.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892040"/>
            <a:ext cx="7818120" cy="96012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5166360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87171"/>
                </a:solidFill>
                <a:latin typeface="Aptos"/>
              </a:rPr>
              <a:t>ROOT CAUSE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5074920"/>
            <a:ext cx="5989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The hot path is coupled to durable database 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CA9B8"/>
                </a:solidFill>
                <a:latin typeface="Aptos"/>
              </a:rPr>
              <a:t>NULL POINTERS  /  DBG-472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9CA9B8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Built for Speed: FastAPI &amp; Redis In-Memory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9B8"/>
                </a:solidFill>
                <a:latin typeface="Aptos"/>
              </a:rPr>
              <a:t>Move contention-sensitive operations to atomic, TTL-aware in-memory primitives.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27080" cy="406908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920240" cy="114300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99232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5,000+ burst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834640"/>
            <a:ext cx="1920240" cy="114300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999232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91840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thin hot-path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834640"/>
            <a:ext cx="1920240" cy="114300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999232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87171"/>
                </a:solidFill>
                <a:latin typeface="Aptos"/>
              </a:rP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91840"/>
            <a:ext cx="1645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atomic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331720"/>
            <a:ext cx="2468880" cy="82296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96312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Aptos"/>
              </a:rPr>
              <a:t>TTL 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SETEX / auto-expire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474720"/>
            <a:ext cx="2468880" cy="82296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639312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Aptos"/>
              </a:rPr>
              <a:t>GATE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2194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1F5F9"/>
                </a:solidFill>
                <a:latin typeface="Aptos"/>
              </a:rPr>
              <a:t>SETNX / one-time key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3401568"/>
            <a:ext cx="50292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3401568"/>
            <a:ext cx="502920" cy="0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80960" y="2743200"/>
            <a:ext cx="502919" cy="658368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60" y="3401568"/>
            <a:ext cx="502919" cy="484632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956048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DD4BF"/>
                </a:solidFill>
                <a:latin typeface="Aptos"/>
              </a:rPr>
              <a:t>ZERO OVERSELLING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85232"/>
            <a:ext cx="28803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9B8"/>
                </a:solidFill>
                <a:latin typeface="Aptos"/>
              </a:rPr>
              <a:t>Atomic DECR keeps inventory mutations race-safe.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956048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78BFA"/>
                </a:solidFill>
                <a:latin typeface="Aptos"/>
              </a:rPr>
              <a:t>TTL-BASED HOLDS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285232"/>
            <a:ext cx="28803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9B8"/>
                </a:solidFill>
                <a:latin typeface="Aptos"/>
              </a:rPr>
              <a:t>SETEX turns reservation expiry into a native Redis behavior.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956048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DE80"/>
                </a:solidFill>
                <a:latin typeface="Aptos"/>
              </a:rPr>
              <a:t>DUPLICATE PREVENTION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285232"/>
            <a:ext cx="28803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9B8"/>
                </a:solidFill>
                <a:latin typeface="Aptos"/>
              </a:rPr>
              <a:t>SETNX binds a gate credential to one accepted scan.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CA9B8"/>
                </a:solidFill>
                <a:latin typeface="Aptos"/>
              </a:rPr>
              <a:t>NULL POINTERS  /  DBG-472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9CA9B8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03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Intelligent Scalper Bot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9B8"/>
                </a:solidFill>
                <a:latin typeface="Aptos"/>
              </a:rPr>
              <a:t>Treat traffic quality as a first-class signal before it reaches the ticketing 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4617720" cy="4160520"/>
          </a:xfrm>
          <a:prstGeom prst="roundRect">
            <a:avLst/>
          </a:prstGeom>
          <a:solidFill>
            <a:srgbClr val="171F2A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TRAFFIC SENTINEL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88920"/>
            <a:ext cx="3886200" cy="749808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26079"/>
            <a:ext cx="1508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8BDF8"/>
                </a:solidFill>
                <a:latin typeface="Aptos"/>
              </a:rPr>
              <a:t>REQUEST HEADERS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916936"/>
            <a:ext cx="19659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1F5F9"/>
                </a:solidFill>
                <a:latin typeface="Aptos"/>
              </a:rPr>
              <a:t>User-Agent / header signals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44368" y="3538727"/>
            <a:ext cx="0" cy="210312"/>
          </a:xfrm>
          <a:prstGeom prst="line">
            <a:avLst/>
          </a:prstGeom>
          <a:ln w="19050">
            <a:solidFill>
              <a:srgbClr val="9C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3776472"/>
            <a:ext cx="3886200" cy="749808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13632"/>
            <a:ext cx="1508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78BFA"/>
                </a:solidFill>
                <a:latin typeface="Aptos"/>
              </a:rPr>
              <a:t>HEURISTIC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904487"/>
            <a:ext cx="19659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1F5F9"/>
                </a:solidFill>
                <a:latin typeface="Aptos"/>
              </a:rPr>
              <a:t>Detect automation patterns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44368" y="4526280"/>
            <a:ext cx="0" cy="210312"/>
          </a:xfrm>
          <a:prstGeom prst="line">
            <a:avLst/>
          </a:prstGeom>
          <a:ln w="19050">
            <a:solidFill>
              <a:srgbClr val="9C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4764024"/>
            <a:ext cx="3886200" cy="749808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01184"/>
            <a:ext cx="1508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87171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892040"/>
            <a:ext cx="19659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1F5F9"/>
                </a:solidFill>
                <a:latin typeface="Aptos"/>
              </a:rPr>
              <a:t>ALLOW  •  CHALLENGE  •  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920240"/>
            <a:ext cx="5897880" cy="4160520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267712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743200"/>
            <a:ext cx="4937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1F5F9"/>
                </a:solidFill>
                <a:latin typeface="Aptos"/>
              </a:rPr>
              <a:t>Block the scalper before
inventory becomes the prize.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794760"/>
            <a:ext cx="2468880" cy="123444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05072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2DD4BF"/>
                </a:solidFill>
                <a:latin typeface="Aptos"/>
              </a:rPr>
              <a:t>ONLINE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97680"/>
            <a:ext cx="19202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Header-based
bot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3794760"/>
            <a:ext cx="2423160" cy="123444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005072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4ADE80"/>
                </a:solidFill>
                <a:latin typeface="Aptos"/>
              </a:rPr>
              <a:t>OFFLINE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97680"/>
            <a:ext cx="19202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Heuristic mode
keeps service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440680"/>
            <a:ext cx="4846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CA9B8"/>
                </a:solidFill>
                <a:latin typeface="Aptos"/>
              </a:rPr>
              <a:t>Graceful degradation &gt; total outage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CA9B8"/>
                </a:solidFill>
                <a:latin typeface="Aptos"/>
              </a:rPr>
              <a:t>NULL POINTERS  /  DBG-472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9CA9B8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04 /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Ready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10698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9B8"/>
                </a:solidFill>
                <a:latin typeface="Aptos"/>
              </a:rPr>
              <a:t>Small, observable, testable components with a developer-first operating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703320" cy="4251960"/>
          </a:xfrm>
          <a:prstGeom prst="roundRect">
            <a:avLst/>
          </a:prstGeom>
          <a:solidFill>
            <a:srgbClr val="171F2A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463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CORE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08376"/>
            <a:ext cx="2286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9B8"/>
                </a:solidFill>
                <a:latin typeface="Aptos"/>
              </a:rPr>
              <a:t>service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770632"/>
            <a:ext cx="38404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39896"/>
            <a:ext cx="2286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9B8"/>
                </a:solidFill>
                <a:latin typeface="Aptos"/>
              </a:rPr>
              <a:t>async API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502152"/>
            <a:ext cx="384048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Redis / Fakeredis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71416"/>
            <a:ext cx="2286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9B8"/>
                </a:solidFill>
                <a:latin typeface="Aptos"/>
              </a:rPr>
              <a:t>state +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233672"/>
            <a:ext cx="384048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Python-Dotenv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02936"/>
            <a:ext cx="2286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A9B8"/>
                </a:solidFill>
                <a:latin typeface="Aptos"/>
              </a:rPr>
              <a:t>environment config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965192"/>
            <a:ext cx="384048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1874519"/>
            <a:ext cx="6812280" cy="2057400"/>
          </a:xfrm>
          <a:prstGeom prst="roundRect">
            <a:avLst/>
          </a:prstGeom>
          <a:solidFill>
            <a:srgbClr val="05090E"/>
          </a:solidFill>
          <a:ln w="10160">
            <a:solidFill>
              <a:srgbClr val="23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176272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Aptos"/>
              </a:rPr>
              <a:t>QUICK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97480"/>
            <a:ext cx="5989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Consolas"/>
              </a:rPr>
              <a:t>$ pip install fastapi uvicorn redis fakeredis python-dotenv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00400"/>
            <a:ext cx="5212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Consolas"/>
              </a:rPr>
              <a:t>$ python -m uvicorn main:app --port 8001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224528"/>
            <a:ext cx="3154680" cy="1901952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52628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Aptos"/>
              </a:rPr>
              <a:t>INTERACTIVE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937760"/>
            <a:ext cx="1463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onsolas"/>
              </a:rPr>
              <a:t>/docs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40680"/>
            <a:ext cx="228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9B8"/>
                </a:solidFill>
                <a:latin typeface="Aptos"/>
              </a:rPr>
              <a:t>Swagger UI endpoint
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224528"/>
            <a:ext cx="3429000" cy="1901952"/>
          </a:xfrm>
          <a:prstGeom prst="roundRect">
            <a:avLst/>
          </a:prstGeom>
          <a:solidFill>
            <a:srgbClr val="121821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52628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Aptos"/>
              </a:rPr>
              <a:t>DELIVERY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56048"/>
            <a:ext cx="2651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FAST  •  SAFE  •  TESTABLE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440680"/>
            <a:ext cx="26517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CA9B8"/>
                </a:solidFill>
                <a:latin typeface="Aptos"/>
              </a:rPr>
              <a:t>Hot-path state is isolated from
legacy persistence bottlenecks.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29260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CA9B8"/>
                </a:solidFill>
                <a:latin typeface="Aptos"/>
              </a:rPr>
              <a:t>NULL POINTERS  /  DBG-472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9CA9B8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